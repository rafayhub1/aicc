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53" y="7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9E6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pp_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822960"/>
            <a:ext cx="731520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AICC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7498079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An AI Campus Companion for Academic Assistance
and Campus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06040"/>
            <a:ext cx="5486400" cy="10972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0">
                <a:solidFill>
                  <a:srgbClr val="D5E4F2"/>
                </a:solidFill>
                <a:latin typeface="Calibri"/>
              </a:rPr>
              <a:t>Department of Computer Science
Lahore Garrison University
Session 2023–2026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931920"/>
            <a:ext cx="5486400" cy="7315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Submitted by  Abdul
Supervised by  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943600"/>
            <a:ext cx="7315200" cy="32004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Chapters 1–9 of the final documentation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Chapters of the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23444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490472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Introduction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10312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6771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9456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50591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Literature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6324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22783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8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10712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Problem Definition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2336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8795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1480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70832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Software Requirement Specification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98348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14807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7492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30952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Methodology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14300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130759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123444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1490472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Detailed Design and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10312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226771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19456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450591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Implementation and Testing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06324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322783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15468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410712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Results and Discussion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023360"/>
            <a:ext cx="5577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4187952"/>
            <a:ext cx="73152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2E9E6C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4114800"/>
            <a:ext cx="420624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200" b="1">
                <a:solidFill>
                  <a:srgbClr val="5C6B7A"/>
                </a:solidFill>
                <a:latin typeface="Calibri"/>
              </a:rPr>
              <a:t>Chapter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70832"/>
            <a:ext cx="42976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Conclusion and Future Work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/>
      <p:bldP spid="30" grpId="0"/>
      <p:bldP spid="31" grpId="0"/>
      <p:bldP spid="32" grpId="0" animBg="1"/>
      <p:bldP spid="33" grpId="0"/>
      <p:bldP spid="34" grpId="0"/>
      <p:bldP spid="35" grpId="0"/>
      <p:bldP spid="36" grpId="0" animBg="1"/>
      <p:bldP spid="37" grpId="0"/>
      <p:bldP spid="38" grpId="0"/>
      <p:bldP spid="39" grpId="0"/>
      <p:bldP spid="40" grpId="0" animBg="1"/>
      <p:bldP spid="41" grpId="0"/>
      <p:bldP spid="42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1  ·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What the companion is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7589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71323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Orientation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713232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A public map reaches the gate. It does not know the walk to the library or Classroom B-104.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43200"/>
            <a:ext cx="7589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71323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Trustworthy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713232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A general chatbot can sound sure about a room, a fee, or a mark that was never stored.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343400"/>
            <a:ext cx="7589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71323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One place to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713232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Challans, rules, teachers, and routes should begin from the same signed-in companion.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43000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1371600"/>
            <a:ext cx="3108960" cy="2743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874519"/>
            <a:ext cx="3108960" cy="20116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Answer from maintained data, show the place when one exists, and walk the university’s own paths.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023360"/>
            <a:ext cx="3108960" cy="1645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D5E4F2"/>
                </a:solidFill>
                <a:latin typeface="Calibri"/>
              </a:rPr>
              <a:t>Place lookup and personal records keep working when the language model is down.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1  ·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Objectives and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Show CGPA, courses, attendance, fee challans, and roll slips from the student record.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Resolve a place from the maintained list, including aliases, before any model is called.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Answer handbook questions only after passages are retrieved.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Refuse what the handbook does not contain. Never invent a mark or a coordinate.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Route outdoors with Dijkstra, and hand city roads to Google Maps.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Route indoors with A*, including stairs and the lift, from a QR code or a chosen start.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Let an administrator edit people, places, and indoor areas without an application update.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9184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1">
                <a:solidFill>
                  <a:srgbClr val="0B3D66"/>
                </a:solidFill>
                <a:latin typeface="Calibri"/>
              </a:rPr>
              <a:t>Outside this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Live bus tracking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Hostel booking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Course registration itself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A surveyed GPS-error log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Official architectural sheets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/>
      <p:bldP spid="9" grpId="0" animBg="1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2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What was adopted, and what was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212080" cy="4114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212080" cy="6858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Lewis et al.  Phrase a rule only after the passage is retrieved.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5212080" cy="4114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BM25 and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5212080" cy="6858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Robertson and Zaragoza. Rank the handbook. Do not search the open web.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83464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5212080" cy="4114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Dijkstra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5212080" cy="6858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Non-negative walkway costs. The right search for the outdoor graph.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3464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5212080" cy="4114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A*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20440"/>
            <a:ext cx="5212080" cy="6858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Hart, Nilsson, and Raphael. Straight-line distance is a safe indoor heuristic.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2628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709160"/>
            <a:ext cx="5212080" cy="4114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Indoor positioning surveys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12080"/>
            <a:ext cx="5212080" cy="6858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Radio maps work, and they need a survey. GPS indoors was rejected.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52628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212080" cy="4114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QR at a door or stair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12080"/>
            <a:ext cx="5212080" cy="6858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A start the student can see. Not a fingerprint of the corridor.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3  ·  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The gap this system closes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0">
                <a:solidFill>
                  <a:srgbClr val="1A2330"/>
                </a:solidFill>
                <a:latin typeface="Calibri"/>
              </a:rPr>
              <a:t>A student who needs a place, a rule, or a document must assemble the answer from sources that do not know about each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27889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37744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2E9E6C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246888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No shared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246888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0">
                <a:solidFill>
                  <a:srgbClr val="1A2330"/>
                </a:solidFill>
                <a:latin typeface="Calibri"/>
              </a:rPr>
              <a:t>A sentence and a map pin are not the same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103120"/>
            <a:ext cx="27889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240280"/>
            <a:ext cx="237744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2E9E6C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246888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No guard on the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83280"/>
            <a:ext cx="246888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0">
                <a:solidFill>
                  <a:srgbClr val="1A2330"/>
                </a:solidFill>
                <a:latin typeface="Calibri"/>
              </a:rPr>
              <a:t>Nothing stops a fluent sentence from containing a CGPA.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03120"/>
            <a:ext cx="27889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237744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2E9E6C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246888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No campus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246888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0">
                <a:solidFill>
                  <a:srgbClr val="1A2330"/>
                </a:solidFill>
                <a:latin typeface="Calibri"/>
              </a:rPr>
              <a:t>Internal walkways, stairs, and lifts are unpublished.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103120"/>
            <a:ext cx="27889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2240280"/>
            <a:ext cx="237744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2E9E6C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97480"/>
            <a:ext cx="246888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No edit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383280"/>
            <a:ext cx="246888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0">
                <a:solidFill>
                  <a:srgbClr val="1A2330"/>
                </a:solidFill>
                <a:latin typeface="Calibri"/>
              </a:rPr>
              <a:t>A changed hour should not require a new application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1124712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Success means a stored card, a stored rule, a path on authored edges, and a refusal when nothing is stored.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5C6B7A"/>
                </a:solidFill>
                <a:latin typeface="Calibri"/>
              </a:rPr>
              <a:t>A blank GPS-error cell is not treated as a pass.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4  ·  SOFTWARE REQUIREMENT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Users and the requirements that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2120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212080" cy="11887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Reads their own record, asks questions, follows routes, and opens notices. Cannot publish a place or see the model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12064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120640" cy="11887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Maintains students, teachers, places, indoor areas, and broadcasts. Signs into a separate shell.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5486400" cy="32004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1">
                <a:solidFill>
                  <a:srgbClr val="2E9E6C"/>
                </a:solidFill>
                <a:latin typeface="Calibri"/>
              </a:rPr>
              <a:t>Functional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9476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FR-06  Place match prefers the longer name.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FR-08  Open questions go to the handbook first.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FR-15  On-campus route uses the published graph.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FR-19  Indoor route can change floor by stairs or lift.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29000"/>
            <a:ext cx="4572000" cy="32004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1">
                <a:solidFill>
                  <a:srgbClr val="2E9E6C"/>
                </a:solidFill>
                <a:latin typeface="Calibri"/>
              </a:rPr>
              <a:t>Qualities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NFR-01  Facts come from a store, not from model text.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NFR-02  The Groq key stays on the server.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NFR-10  A missing length is marked estimated.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4  ·  SOFTWARE REQUIREMENT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8 / 20</a:t>
            </a:r>
          </a:p>
        </p:txBody>
      </p:sp>
      <p:pic>
        <p:nvPicPr>
          <p:cNvPr id="8" name="Picture 7" descr="fig_6_1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589520" cy="5303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12801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UC-04  Ask where a place is.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UC-05  Ask a handbook rule.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UC-08  Walk on campus, or hand off outside it.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UC-09  Walk inside Block B.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UC-13  An administrator publishes a place.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5  · 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Lookup before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914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2E9E6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0B3D66"/>
                </a:solidFill>
                <a:latin typeface="Calibri"/>
              </a:rPr>
              <a:t>Normalise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Trim, lowercase, and collapse spaces.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914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2E9E6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0B3D66"/>
                </a:solidFill>
                <a:latin typeface="Calibri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Greeting, document, academics, faculty, or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417320"/>
            <a:ext cx="914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2E9E6C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20040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0B3D66"/>
                </a:solidFill>
                <a:latin typeface="Calibri"/>
              </a:rPr>
              <a:t>Match a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Aliases and the longer name win on the 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86200"/>
            <a:ext cx="914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2E9E6C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80560"/>
            <a:ext cx="320040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0B3D66"/>
                </a:solidFill>
                <a:latin typeface="Calibri"/>
              </a:rPr>
              <a:t>Retrieve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3200400" cy="7315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BM25 plus embeddings over the handbook.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3886200"/>
            <a:ext cx="914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2E9E6C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80560"/>
            <a:ext cx="320040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0B3D66"/>
                </a:solidFill>
                <a:latin typeface="Calibri"/>
              </a:rPr>
              <a:t>Phrase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937760"/>
            <a:ext cx="3200400" cy="7315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Groq may speak only the retrieved passages.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3886200"/>
            <a:ext cx="914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2E9E6C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480560"/>
            <a:ext cx="320040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000" b="1">
                <a:solidFill>
                  <a:srgbClr val="0B3D66"/>
                </a:solidFill>
                <a:latin typeface="Calibri"/>
              </a:rPr>
              <a:t>Attach a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937760"/>
            <a:ext cx="3200400" cy="7315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500" b="0">
                <a:solidFill>
                  <a:srgbClr val="1A2330"/>
                </a:solidFill>
                <a:latin typeface="Calibri"/>
              </a:rPr>
              <a:t>Only if that passage already has a place id.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5  · 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Two graphs, two searches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21208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Outdoors  ·  Dijkstra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Published nodes and walkways only.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Missing length uses 25 metres and marks the route estimated.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No straight line across buildings.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Outside the campus outline, open Google Maps toward a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5212080" cy="32004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Indoors  ·  A*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26280"/>
            <a:ext cx="5212080" cy="12801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Stairs 12 per floor. Lift 8. Preferring stairs adds 40 to each lift. A zero heuristic is Dijkstra, kept for tests.</a:t>
            </a:r>
          </a:p>
        </p:txBody>
      </p:sp>
      <p:pic>
        <p:nvPicPr>
          <p:cNvPr id="13" name="Picture 12" descr="fig_6_7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669280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4114800"/>
            <a:ext cx="5486400" cy="13716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A route session moves from Idle to Locating, Routing, On route, and Arrived. Leaving the path recalculates.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6  ·  DETAILED DESIGN AND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11 / 20</a:t>
            </a:r>
          </a:p>
        </p:txBody>
      </p:sp>
      <p:pic>
        <p:nvPicPr>
          <p:cNvPr id="8" name="Picture 7" descr="fig_6_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86384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12801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The phone decides the tap, the place, and the path.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The service decides which passage may be spoken.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The stores decide what is true.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The model is not a store.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The key never ships inside the application.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6  ·  DETAILED DESIGN AND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One question, then a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12 / 20</a:t>
            </a:r>
          </a:p>
        </p:txBody>
      </p:sp>
      <p:pic>
        <p:nvPicPr>
          <p:cNvPr id="8" name="Picture 7" descr="fig_6_4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3931920" cy="5349240"/>
          </a:xfrm>
          <a:prstGeom prst="rect">
            <a:avLst/>
          </a:prstGeom>
        </p:spPr>
      </p:pic>
      <p:pic>
        <p:nvPicPr>
          <p:cNvPr id="9" name="Picture 8" descr="fig_6_5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34440"/>
            <a:ext cx="7680960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5760720"/>
            <a:ext cx="7498079" cy="54864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0">
                <a:solidFill>
                  <a:srgbClr val="5C6B7A"/>
                </a:solidFill>
                <a:latin typeface="Calibri"/>
              </a:rPr>
              <a:t>Activity of a question, and the sequence when “library” is a place and the next turn asks for hours.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6  ·  DETAILED DESIGN AND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Records and the navigation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13 / 20</a:t>
            </a:r>
          </a:p>
        </p:txBody>
      </p:sp>
      <p:pic>
        <p:nvPicPr>
          <p:cNvPr id="8" name="Picture 7" descr="fig_6_10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3657600"/>
          </a:xfrm>
          <a:prstGeom prst="rect">
            <a:avLst/>
          </a:prstGeom>
        </p:spPr>
      </p:pic>
      <p:pic>
        <p:nvPicPr>
          <p:cNvPr id="9" name="Picture 8" descr="fig_6_8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4937760"/>
            <a:ext cx="11338560" cy="12801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Mobile Firebase holds accounts, chat, faculty, and activity. The campus service holds students, places, the walkway graph, and indoor maps. The handbook is a file, not a student-writable collection.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7  ·  IMPLEMENTATION AND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Student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14 / 20</a:t>
            </a:r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2606040" cy="5349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1840" y="1188720"/>
            <a:ext cx="8229600" cy="4114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600" b="1">
                <a:solidFill>
                  <a:srgbClr val="0B3D66"/>
                </a:solidFill>
                <a:latin typeface="Calibri"/>
              </a:rPr>
              <a:t>The signed-in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8412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Welcome card uses the stored name and registration number.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CGPA is the value on the student row. It is not recalculated.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Attendance is the average of this semester’s courses.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Quick actions open chat, documents, and teachers.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The drawer also reaches history, notices, and indoor navigation.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Loading, empty, and error states replace a blank screen.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7  ·  IMPLEMENTATION AND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UniBot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15 / 20</a:t>
            </a:r>
          </a:p>
        </p:txBody>
      </p:sp>
      <p:pic>
        <p:nvPicPr>
          <p:cNvPr id="8" name="Picture 7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2606040" cy="5349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46120" y="1188720"/>
            <a:ext cx="8412480" cy="4114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600" b="1">
                <a:solidFill>
                  <a:srgbClr val="0B3D66"/>
                </a:solidFill>
                <a:latin typeface="Calibri"/>
              </a:rPr>
              <a:t>A place is a card, not a guess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828800"/>
            <a:ext cx="8503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“Where is the library?” matches Central Library on the phone.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Hours are a handbook answer. The card is attached because the passage is tagged.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“Who won the cricket world cup?” is refused. No place card.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Voice is transcribed on the server, then run through the same classifier.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The reply can be spoken. The model key stays on the server.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330"/>
                </a:solidFill>
                <a:latin typeface="Calibri"/>
              </a:rPr>
              <a:t>•  History can replay or delete a session.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7  ·  IMPLEMENTATION AND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Campus map and indoor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16 / 20</a:t>
            </a:r>
          </a:p>
        </p:txBody>
      </p:sp>
      <p:pic>
        <p:nvPicPr>
          <p:cNvPr id="8" name="Picture 7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2468880" cy="5074920"/>
          </a:xfrm>
          <a:prstGeom prst="rect">
            <a:avLst/>
          </a:prstGeom>
        </p:spPr>
      </p:pic>
      <p:pic>
        <p:nvPicPr>
          <p:cNvPr id="9" name="Picture 8" descr="ind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097280"/>
            <a:ext cx="2468880" cy="5074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23560" y="128016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The outdoor line is the Dijkstra node list.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The site drawing under the pin is the packaged campus plan.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Block B shows the first-floor drawing and the step list.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Prefer stairs changes a cost. It does not delete the lift.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A QR code can set the start when GPS is on the wrong side of a wall.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8  ·  RESULTS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Chatbot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07592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LGU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Main campus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307592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Where is LGU cafe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Longer name wins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42316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587752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Navigate to canteen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0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Cafe alias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2316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587752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Library kahan hai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Central Library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0332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67911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Where can I eat lunch?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97680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Text plus the cafe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03320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867911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When does the library open?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97680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Hours, not a route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983479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148071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Who won the cricket world cup?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577840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Refusal, no card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983479"/>
            <a:ext cx="5715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5148071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Admin drops a pin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577840"/>
            <a:ext cx="5303520" cy="3657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Visible after save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8  ·  RESULTS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Navigation checks, stated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18 / 20</a:t>
            </a:r>
          </a:p>
        </p:txBody>
      </p:sp>
      <p:pic>
        <p:nvPicPr>
          <p:cNvPr id="8" name="Picture 7" descr="fig_6_9_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85216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11887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Main Gate to the cafe, the library, and the fountain follow the published graph.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Classroom B-104 continues indoors by stairs or lift.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Off campus, a public walking link opens toward a gate.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GPS error was not surveyed. The field log stays blank.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•  Floor art is a Block B sketch. The graph is what the router trusts.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846320"/>
            <a:ext cx="1133856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800" b="1">
                <a:solidFill>
                  <a:srgbClr val="0B3D66"/>
                </a:solidFill>
                <a:latin typeface="Calibri"/>
              </a:rPr>
              <a:t>Say “this is the published path.” Do not say “this is a surveyed distance.”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686800" cy="292608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300" b="1">
                <a:solidFill>
                  <a:srgbClr val="2E9E6C"/>
                </a:solidFill>
                <a:latin typeface="Calibri"/>
              </a:rPr>
              <a:t>CHAPTER 9  ·  CONCLUSION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02336"/>
            <a:ext cx="932688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800" b="1">
                <a:solidFill>
                  <a:srgbClr val="0B3D66"/>
                </a:solidFill>
                <a:latin typeface="Calibri"/>
              </a:rPr>
              <a:t>What was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AICC   ·   Lahore Garrison University   ·   19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200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320040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Personal numbers are read, not generated.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48840"/>
            <a:ext cx="320040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Aliases resolve to one stored pin.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3200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48840"/>
            <a:ext cx="320040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Retrieved, then phrased, or refused.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66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840480"/>
            <a:ext cx="3200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Outdoors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320040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Dijkstra inside the gate. Public map outside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566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840480"/>
            <a:ext cx="3200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Indoors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526280"/>
            <a:ext cx="320040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A* with an explicit stair and lift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566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3840480"/>
            <a:ext cx="320040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1">
                <a:solidFill>
                  <a:srgbClr val="0B3D66"/>
                </a:solidFill>
                <a:latin typeface="Calibri"/>
              </a:rPr>
              <a:t>Administration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526280"/>
            <a:ext cx="3200400" cy="82296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600" b="0">
                <a:solidFill>
                  <a:srgbClr val="1A2330"/>
                </a:solidFill>
                <a:latin typeface="Calibri"/>
              </a:rPr>
              <a:t>People, notices, and places change without a rebuild.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9E6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CHAPTER 9  ·  CONCLUSION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should happen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Survey the walkways and fill the GPS-error log.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Replace the Block B sketch with cleared floor drawings.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Add buildings on the same graph contract.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Review handbook passages with the offices they describe.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•  Keep places as lookups and routes as authored edges.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103120"/>
            <a:ext cx="3474720" cy="64008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834640"/>
            <a:ext cx="3474720" cy="45720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2200" b="0">
                <a:solidFill>
                  <a:srgbClr val="C4A35A"/>
                </a:solidFill>
                <a:latin typeface="Calibri"/>
              </a:rP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5486400" cy="320040"/>
          </a:xfrm>
          <a:prstGeom prst="rect">
            <a:avLst/>
          </a:prstGeom>
          <a:noFill/>
        </p:spPr>
        <p:txBody>
          <a:bodyPr wrap="square" lIns="0" tIns="0" rIns="0" anchor="t"/>
          <a:lstStyle/>
          <a:p>
            <a:pPr algn="l"/>
            <a:r>
              <a:rPr sz="1400" b="0">
                <a:solidFill>
                  <a:srgbClr val="D5E4F2"/>
                </a:solidFill>
                <a:latin typeface="Calibri"/>
              </a:rPr>
              <a:t>AICC  ·  20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1839</Words>
  <Application>Microsoft Office PowerPoint</Application>
  <PresentationFormat>Widescreen</PresentationFormat>
  <Paragraphs>250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AICC Final Year Presentation</dc:title>
  <dc:subject>AI Campus Companion</dc:subject>
  <dc:creator>Abdul</dc:creator>
  <cp:keywords/>
  <dc:description>generated using python-pptx</dc:description>
  <cp:lastModifiedBy>Abdul Rafay</cp:lastModifiedBy>
  <cp:revision>2</cp:revision>
  <dcterms:created xsi:type="dcterms:W3CDTF">2013-01-27T09:14:16Z</dcterms:created>
  <dcterms:modified xsi:type="dcterms:W3CDTF">2026-10-25T23:52:22Z</dcterms:modified>
  <cp:category/>
</cp:coreProperties>
</file>